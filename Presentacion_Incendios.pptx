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0" y="-914400"/>
            <a:ext cx="5486400" cy="86868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097280" y="-914400"/>
            <a:ext cx="5486400" cy="8686800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0">
                <a:solidFill>
                  <a:srgbClr val="FFFFFF"/>
                </a:solidFill>
              </a:defRPr>
            </a:pPr>
            <a:r>
              <a:t>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Sistema de Gestión de Incendios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6B35"/>
                </a:solidFill>
              </a:defRPr>
            </a:pPr>
            <a:r>
              <a:t>Municipalidad Valle del Sol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3657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4"/>
                </a:solidFill>
              </a:defRPr>
            </a:pPr>
            <a:r>
              <a:t>Plataforma Fullstack para monitoreo y gestión de incendios forestales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Ignacio Salazar  ·  Javier Quiroga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4"/>
                </a:solidFill>
              </a:defRPr>
            </a:pPr>
            <a:r>
              <a:t>DuocUC — Caso Semestral  | 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4"/>
                </a:solidFill>
              </a:defRPr>
            </a:pPr>
            <a:r>
              <a:t>Presentación del 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4"/>
                </a:solidFill>
              </a:defRPr>
            </a:pPr>
            <a:r>
              <a:t>La Municipalidad Valle del Sol enfrenta el desafío de gestionar y responder eficientemente a los incendios forestales en su territorio. Se requiere un sistema digital que permita a los ciudadanos reportar incendios en tiempo real, clasificar automáticamente su gravedad mediante inteligencia artificial, y coordinar la respuesta de brigadistas desde un panel administrativo centralizado.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029200" cy="2926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⚠️  Problemática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Reportes manuales lentos e imprecisos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Sin clasificación automática de gravedad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Falta de visibilidad en tiempo real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Coordinación deficiente de brigadistas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Sin registro histórico ni estadísticas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029200" cy="2926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3832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✅  Solución Propuesta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84048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App web con reporte geolocalizado + foto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IA (CNN + XGBoost) clasifica gravedad 1-5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WebSocket para alertas en tiempo real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Dashboard admin con estadísticas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Flujo de estados con auditoría automática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Servicios Utilizados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4"/>
                </a:solidFill>
              </a:defRPr>
            </a:pPr>
            <a:r>
              <a:t>Plataformas cloud para despliegue y operación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560320" cy="4206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☁️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A8DE"/>
                </a:solidFill>
              </a:defRPr>
            </a:pPr>
            <a:r>
              <a:t>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4"/>
                </a:solidFill>
              </a:defRPr>
            </a:pPr>
            <a:r>
              <a:t>Frontend Hosting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Despliegue automático desde GitHub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CDN global, SSL gratuito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Preview deploys por cada PR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React + Vite optimizado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11680"/>
            <a:ext cx="2560320" cy="4206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CC71"/>
                </a:solidFill>
              </a:defRPr>
            </a:pPr>
            <a:r>
              <a:t>Railway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4"/>
                </a:solidFill>
              </a:defRPr>
            </a:pPr>
            <a:r>
              <a:t>Backend Hosting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6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Contenedor Docker para Spring Boot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Variables de entorno seguras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Logs y monitoreo integrado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Escalamiento automático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560320" cy="4206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B59B6"/>
                </a:solidFill>
              </a:defRPr>
            </a:pPr>
            <a:r>
              <a:t>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4"/>
                </a:solidFill>
              </a:defRPr>
            </a:pPr>
            <a:r>
              <a:t>Base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9B59B6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PostgreSQL gestionado en la nube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B59B6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Extensiones PostGIS habilitadas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B59B6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Backups automáticos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B59B6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Connection pooling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011680"/>
            <a:ext cx="2560320" cy="4206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</a:defRPr>
            </a:pPr>
            <a:r>
              <a:t>HuggingFace Spaces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4"/>
                </a:solidFill>
              </a:defRPr>
            </a:pPr>
            <a:r>
              <a:t>Modelo 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56616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6B35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Hosting gratuito del modelo CNN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6B35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API REST via Gradio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6B35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GPU inference disponible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6B35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Versionado de modelos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Tecnologías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4"/>
                </a:solidFill>
              </a:defRPr>
            </a:pPr>
            <a:r>
              <a:t>Stack tecnológico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389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A8DE"/>
                </a:solidFill>
              </a:defRPr>
            </a:pPr>
            <a:r>
              <a:t>⚛️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React 19 + TypeScript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Vite 8 (build tool)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React Router DOM 7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Leaflet + React-Leaflet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STOMP.js + SockJS (WebSocket)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Lucide React (iconos)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CSS vanilla (estilos)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828800"/>
            <a:ext cx="3474720" cy="4389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☕ 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Java 21 (LTS)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Spring Boot 3.4.5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Spring Security 6 + JWT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Spring Data JPA + Hibernate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Spring WebSocket (STOMP)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Hibernate Spatial (PostGIS)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Maven 3.9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3474720" cy="2011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</a:defRPr>
            </a:pPr>
            <a:r>
              <a:t>🐘  Base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468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PostgreSQL 16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PostGIS 3.4 (geoespacial)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uuid-ossp, pg_trgm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114800"/>
            <a:ext cx="347472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🧠  Inteligencia Artificial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EfficientNet-B0 (CNN/ONNX)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XGBoost (datos satelitales)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Gradio API (serving)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Arquitectura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4"/>
                </a:solidFill>
              </a:defRPr>
            </a:pPr>
            <a:r>
              <a:t>Patrón en 3 Capas + Microservicio 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508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A8DE"/>
                </a:solidFill>
              </a:defRPr>
            </a:pPr>
            <a:r>
              <a:t>🖥️  CAPA DE PRESENTACIÓN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44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AEC4"/>
                </a:solidFill>
              </a:defRPr>
            </a:pPr>
            <a:r>
              <a:t>React + Vite →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6 Páginas (Home, Auth, Reportar, Mis Reportes, Detalle, Dashboard)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Componentes: FireMap, Navbar, AlertBanner, Badges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Hooks: useGeolocation, useRealtime (WebSocket STOMP)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Context: AuthContext (sesión JWT persistente)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515600" cy="1508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</a:defRPr>
            </a:pPr>
            <a:r>
              <a:t>⚙️  CAPA DE LÓGICA DE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906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AEC4"/>
                </a:solidFill>
              </a:defRPr>
            </a:pPr>
            <a:r>
              <a:t>Spring Boot → Railway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Controllers: Auth, Reporte, Dashboard (REST API)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Services: Auth, Reporte, IA, Storage, WebSocket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Security: JWT Filter, Spring Security, BCrypt, Roles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DTOs: Request/Response separados, validación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515600" cy="1508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36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</a:defRPr>
            </a:pPr>
            <a:r>
              <a:t>💾  CAPA DE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36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AEC4"/>
                </a:solidFill>
              </a:defRPr>
            </a:pPr>
            <a:r>
              <a:t>PostgreSQL → Supabase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749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9B59B6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5 Entidades: Usuario, Reporte, Brigadista, HistorialEstado, Alerta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B59B6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PostGIS: consultas ST_DWithin, ST_MakeEnvelope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B59B6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Triggers: auto-ubicación, historial de estados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B59B6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Vistas: estadísticas dashboard, reportes activos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645920"/>
            <a:ext cx="2743200" cy="10972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</a:defRPr>
            </a:pPr>
            <a:r>
              <a:t>🤗 Microservicio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4"/>
                </a:solidFill>
              </a:defRPr>
            </a:pPr>
            <a:r>
              <a:t>HuggingFace Space</a:t>
            </a:r>
            <a:br/>
            <a:r>
              <a:t>Gradio API · CNN + XGBoost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Arquitectura de los Códigos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4"/>
                </a:solidFill>
              </a:defRPr>
            </a:pPr>
            <a:r>
              <a:t>Organización interna del código fuente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572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☕ Backend —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controller/  → AuthController, ReporteController, DashboardController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service/       → AuthService, ReporteService, IAService, StorageService, WebSocketService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model/          → Usuario, Reporte, Brigadista, HistorialEstado, Alerta + Enums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repository/  → ReporteRepository (consultas geoespaciales JPA)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config/          → SecurityConfig, CorsConfig, WebSocketConfig, JwtUtil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security/      → JwtAuthFilter, UserDetailsServiceImpl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DTO/              → request/ (Login, Register, Reporte) + response/ (Auth, Reporte)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exception/   → GlobalExceptionHandler (400/500 centralizados)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486400" cy="4572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A8DE"/>
                </a:solidFill>
              </a:defRPr>
            </a:pPr>
            <a:r>
              <a:t>⚛️ Frontend — React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pages/             → HomePage, AuthPage, ReportPage, MyReportsPage, ReportDetailPage, DashboardPage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components/  → layout/Navbar, map/FireMap, ui/AlertBanner, ui/Badges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context/          → AuthContext (login, register, logout, sesión JWT)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hooks/             → useGeolocation (GPS), useRealtime (WebSocket STOMP)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lib/                  → api.ts (HTTP client + interceptors), stomp.ts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types/              → index.ts (interfaces TypeScript: Reporte, Usuario, etc.)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App.tsx            → Router + ProtectedRoute + Layout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EA8DE"/>
                </a:solidFill>
              </a:rPr>
              <a:t>▸ </a:t>
            </a:r>
            <a:r>
              <a:rPr sz="1200">
                <a:solidFill>
                  <a:srgbClr val="A0AEC4"/>
                </a:solidFill>
              </a:rPr>
              <a:t>index.css         → Design system completo (variables CSS, dark theme)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Estrategia de Branching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4"/>
                </a:solidFill>
              </a:defRPr>
            </a:pPr>
            <a:r>
              <a:t>Flujo de trabajo Git del equipo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144000" cy="64008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</a:defRPr>
            </a:pPr>
            <a:r>
              <a:t>🟢  main  —  Rama de producción (código estable y desplegado)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017520"/>
            <a:ext cx="8229600" cy="64008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A8DE"/>
                </a:solidFill>
              </a:defRPr>
            </a:pPr>
            <a:r>
              <a:t>🔵  develop / review  —  Rama de revisión e integración de cambios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931920"/>
            <a:ext cx="3657600" cy="640080"/>
          </a:xfrm>
          <a:prstGeom prst="round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</a:defRPr>
            </a:pPr>
            <a:r>
              <a:t>🟣  feature/ignacio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931920"/>
            <a:ext cx="3657600" cy="640080"/>
          </a:xfrm>
          <a:prstGeom prst="roundRect">
            <a:avLst/>
          </a:prstGeom>
          <a:solidFill>
            <a:srgbClr val="7B3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🟠  feature/javier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Flujo de trabajo: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Cada integrante trabaja en su rama personal (feature/ignacio, feature/javier)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Al completar una funcionalidad, se crea un Pull Request hacia la rama develop/review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Se realiza revisión de código entre compañeros antes de aprobar el merge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Una vez revisado y aprobado, se integra a develop y se testea en conjunto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Cuando develop es estable, se hace merge a main → despliegue automático a producción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Mejoras a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4"/>
                </a:solidFill>
              </a:defRPr>
            </a:pPr>
            <a:r>
              <a:t>Roadmap de evolución del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3566160" cy="4572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  🔴 Prioridad 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Notificaciones Push (FCM)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Upload a Cloud Storage (S3/R2)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Tests unitarios e integración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Refresh Token (JWT)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Validación de imágenes (MIME, tamaño)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828800"/>
            <a:ext cx="3566160" cy="4572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1C"/>
                </a:solidFill>
              </a:defRPr>
            </a:pPr>
            <a:r>
              <a:t>  🟡 Prioridad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Asignación automática de brigadistas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Timeline visual de estados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Filtros avanzados en el mapa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Gráficos en Dashboard (Chart.js)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Paginación + Caché (Redis)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566160" cy="4572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  🟢 Futuro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PWA / App móvil (React Native)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Integración NASA FIRMS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Modelo IA v2 (dataset chileno)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CI/CD (GitHub Actions)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Monitoreo (Prometheus + Grafana)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4"/>
                </a:solidFill>
              </a:defRPr>
            </a:pPr>
            <a:r>
              <a:t>Se desarrolló exitosamente un sistema fullstack completo que permite a ciudadanos reportar incendios forestales con geolocalización y fotografía, clasificar automáticamente la gravedad mediante inteligencia artificial (CNN + XGBoost), y gestionar la respuesta en tiempo real a través de un panel administrativo con comunicación WebSocket.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21031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B35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4"/>
                </a:solidFill>
              </a:defRPr>
            </a:pPr>
            <a:r>
              <a:t>Servicios</a:t>
            </a:r>
            <a:br/>
            <a:r>
              <a:t>implementados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474720"/>
            <a:ext cx="21031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520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B35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4"/>
                </a:solidFill>
              </a:defRPr>
            </a:pPr>
            <a:r>
              <a:t>Capas de</a:t>
            </a:r>
            <a:br/>
            <a:r>
              <a:t>arquitectura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474720"/>
            <a:ext cx="21031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520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B35"/>
                </a:solidFill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4"/>
                </a:solidFill>
              </a:defRPr>
            </a:pPr>
            <a:r>
              <a:t>Páginas</a:t>
            </a:r>
            <a:br/>
            <a:r>
              <a:t>frontend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59" y="3474720"/>
            <a:ext cx="21031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3520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B35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4"/>
                </a:solidFill>
              </a:defRPr>
            </a:pPr>
            <a:r>
              <a:t>Niveles de</a:t>
            </a:r>
            <a:br/>
            <a:r>
              <a:t>gravedad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Despliegue en producción: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Frontend React + Vite → Vercel (CDN global)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Backend Spring Boot Java → Railway (contenedor Docker)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Base de datos PostgreSQL + PostGIS → Supabase (managed)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6B35"/>
                </a:solidFill>
              </a:rPr>
              <a:t>▸ </a:t>
            </a:r>
            <a:r>
              <a:rPr sz="1400">
                <a:solidFill>
                  <a:srgbClr val="A0AEC4"/>
                </a:solidFill>
              </a:rPr>
              <a:t>Modelo IA CNN + XGBoost → HuggingFace Spaces (Gradio API)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4"/>
                </a:solidFill>
              </a:defRPr>
            </a:pPr>
            <a:r>
              <a:t>Ignacio Salazar  ·  Javier Quiroga  |  DuocUC —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